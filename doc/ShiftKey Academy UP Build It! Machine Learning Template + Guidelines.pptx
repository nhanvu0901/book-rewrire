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urlingame Pro 1 Semi-Bold" charset="1" panose="020B0704040504020204"/>
      <p:regular r:id="rId15"/>
    </p:embeddedFont>
    <p:embeddedFont>
      <p:font typeface="Burlingame Pro 2" charset="1" panose="020B0306040504020204"/>
      <p:regular r:id="rId16"/>
    </p:embeddedFont>
    <p:embeddedFont>
      <p:font typeface="Burlingame Pro 1 Bold" charset="1" panose="020B0804040504020204"/>
      <p:regular r:id="rId17"/>
    </p:embeddedFont>
    <p:embeddedFont>
      <p:font typeface="Burlingame Pro 1 Bold Italics" charset="1" panose="020B0804040504090204"/>
      <p:regular r:id="rId18"/>
    </p:embeddedFont>
    <p:embeddedFont>
      <p:font typeface="Burlingame Pro 1 Light" charset="1" panose="020B0304040504020204"/>
      <p:regular r:id="rId19"/>
    </p:embeddedFont>
    <p:embeddedFont>
      <p:font typeface="Burlingame Pro 1 Light Italics" charset="1" panose="020B030604050409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Thank you so much for coming.</a:t>
            </a:r>
          </a:p>
          <a:p>
            <a:r>
              <a:rPr lang="en-US"/>
              <a:t>Our goal is to help you get things done!</a:t>
            </a:r>
          </a:p>
          <a:p>
            <a:r>
              <a:rPr lang="en-US"/>
              <a:t/>
            </a:r>
          </a:p>
          <a:p>
            <a:r>
              <a:rPr lang="en-US"/>
              <a:t> - why did we decided to do this?</a:t>
            </a:r>
          </a:p>
          <a:p>
            <a:r>
              <a:rPr lang="en-US"/>
              <a:t>Employers want to see what you've made, they are looking for people who ask questions and take initiative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B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47" y="-440236"/>
            <a:ext cx="11485981" cy="6906668"/>
            <a:chOff x="0" y="0"/>
            <a:chExt cx="15314641" cy="9208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245011" y="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45011" y="306963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1"/>
                  </a:lnTo>
                  <a:lnTo>
                    <a:pt x="0" y="306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45011" y="6139261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75381" y="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175381" y="306963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1"/>
                  </a:lnTo>
                  <a:lnTo>
                    <a:pt x="0" y="306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175381" y="6139261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105751" y="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105751" y="306963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1"/>
                  </a:lnTo>
                  <a:lnTo>
                    <a:pt x="0" y="306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105751" y="6139261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69630" y="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1" y="0"/>
                  </a:lnTo>
                  <a:lnTo>
                    <a:pt x="3069631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69630" y="306963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1" y="0"/>
                  </a:lnTo>
                  <a:lnTo>
                    <a:pt x="3069631" y="3069631"/>
                  </a:lnTo>
                  <a:lnTo>
                    <a:pt x="0" y="306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69630" y="6139261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1" y="0"/>
                  </a:lnTo>
                  <a:lnTo>
                    <a:pt x="3069631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3069630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1"/>
                  </a:lnTo>
                  <a:lnTo>
                    <a:pt x="0" y="306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139261"/>
              <a:ext cx="3069630" cy="3069630"/>
            </a:xfrm>
            <a:custGeom>
              <a:avLst/>
              <a:gdLst/>
              <a:ahLst/>
              <a:cxnLst/>
              <a:rect r="r" b="b" t="t" l="l"/>
              <a:pathLst>
                <a:path h="3069630" w="3069630">
                  <a:moveTo>
                    <a:pt x="0" y="0"/>
                  </a:moveTo>
                  <a:lnTo>
                    <a:pt x="3069630" y="0"/>
                  </a:lnTo>
                  <a:lnTo>
                    <a:pt x="3069630" y="3069630"/>
                  </a:lnTo>
                  <a:lnTo>
                    <a:pt x="0" y="3069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3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38036" y="390678"/>
            <a:ext cx="3038199" cy="1276043"/>
          </a:xfrm>
          <a:custGeom>
            <a:avLst/>
            <a:gdLst/>
            <a:ahLst/>
            <a:cxnLst/>
            <a:rect r="r" b="b" t="t" l="l"/>
            <a:pathLst>
              <a:path h="1276043" w="3038199">
                <a:moveTo>
                  <a:pt x="0" y="0"/>
                </a:moveTo>
                <a:lnTo>
                  <a:pt x="3038198" y="0"/>
                </a:lnTo>
                <a:lnTo>
                  <a:pt x="3038198" y="1276044"/>
                </a:lnTo>
                <a:lnTo>
                  <a:pt x="0" y="1276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212671" y="5529903"/>
            <a:ext cx="3869712" cy="386971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6"/>
              <a:stretch>
                <a:fillRect l="0" t="-411" r="0" b="-49682"/>
              </a:stretch>
            </a:blipFill>
            <a:ln w="114300" cap="sq">
              <a:solidFill>
                <a:srgbClr val="0B318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212671" y="1020735"/>
            <a:ext cx="3869712" cy="386971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7"/>
              <a:stretch>
                <a:fillRect l="-43551" t="0" r="-6542" b="0"/>
              </a:stretch>
            </a:blipFill>
            <a:ln w="114300" cap="sq">
              <a:solidFill>
                <a:srgbClr val="0B318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4305311" y="3268401"/>
            <a:ext cx="3869712" cy="386971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8"/>
              <a:stretch>
                <a:fillRect l="0" t="-411" r="0" b="-49682"/>
              </a:stretch>
            </a:blipFill>
            <a:ln w="114300" cap="sq">
              <a:solidFill>
                <a:srgbClr val="0B318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28700" y="3812340"/>
            <a:ext cx="11301387" cy="201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9"/>
              </a:lnSpc>
            </a:pPr>
            <a:r>
              <a:rPr lang="en-US" sz="13669" spc="-546" b="true">
                <a:solidFill>
                  <a:srgbClr val="0B318F"/>
                </a:solidFill>
                <a:latin typeface="Burlingame Pro 1 Semi-Bold"/>
                <a:ea typeface="Burlingame Pro 1 Semi-Bold"/>
                <a:cs typeface="Burlingame Pro 1 Semi-Bold"/>
                <a:sym typeface="Burlingame Pro 1 Semi-Bold"/>
              </a:rPr>
              <a:t>Project Title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5844646"/>
            <a:ext cx="5329905" cy="59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  <a:spcBef>
                <a:spcPct val="0"/>
              </a:spcBef>
            </a:pPr>
            <a:r>
              <a:rPr lang="en-US" sz="3520">
                <a:solidFill>
                  <a:srgbClr val="0B318F"/>
                </a:solidFill>
                <a:latin typeface="Burlingame Pro 2"/>
                <a:ea typeface="Burlingame Pro 2"/>
                <a:cs typeface="Burlingame Pro 2"/>
                <a:sym typeface="Burlingame Pro 2"/>
              </a:rPr>
              <a:t>Full Name OR Team Name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5131" y="8060211"/>
            <a:ext cx="12308524" cy="183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757" indent="-265878" lvl="1">
              <a:lnSpc>
                <a:spcPts val="3546"/>
              </a:lnSpc>
              <a:buFont typeface="Arial"/>
              <a:buChar char="•"/>
            </a:pPr>
            <a:r>
              <a:rPr lang="en-US" b="true" sz="2462" spc="-98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NOTE: </a:t>
            </a:r>
            <a:r>
              <a:rPr lang="en-US" b="true" sz="2462" i="true" spc="-98">
                <a:solidFill>
                  <a:srgbClr val="0B318F"/>
                </a:solidFill>
                <a:latin typeface="Burlingame Pro 1 Bold Italics"/>
                <a:ea typeface="Burlingame Pro 1 Bold Italics"/>
                <a:cs typeface="Burlingame Pro 1 Bold Italics"/>
                <a:sym typeface="Burlingame Pro 1 Bold Italics"/>
              </a:rPr>
              <a:t>Here is where you introduce yourself, and give a brief description of what your project is and why you're passionate about it. What problem does it solve? Why does it matter to you personally? Keep it to 2-3 sentences. This is your hook, so make it really memorable and brief, like a pitch!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525536"/>
            <a:ext cx="5848206" cy="48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b="true" sz="2462" i="true" spc="-98">
                <a:solidFill>
                  <a:srgbClr val="0B318F"/>
                </a:solidFill>
                <a:latin typeface="Burlingame Pro 1 Bold Italics"/>
                <a:ea typeface="Burlingame Pro 1 Bold Italics"/>
                <a:cs typeface="Burlingame Pro 1 Bold Italics"/>
                <a:sym typeface="Burlingame Pro 1 Bold Italics"/>
              </a:rPr>
              <a:t>Build It! Machine Learning </a:t>
            </a:r>
          </a:p>
          <a:p>
            <a:pPr algn="l">
              <a:lnSpc>
                <a:spcPts val="3546"/>
              </a:lnSpc>
            </a:pPr>
            <a:r>
              <a:rPr lang="en-US" b="true" sz="2462" i="true" spc="-98">
                <a:solidFill>
                  <a:srgbClr val="0B318F"/>
                </a:solidFill>
                <a:latin typeface="Burlingame Pro 1 Bold Italics"/>
                <a:ea typeface="Burlingame Pro 1 Bold Italics"/>
                <a:cs typeface="Burlingame Pro 1 Bold Italics"/>
                <a:sym typeface="Burlingame Pro 1 Bold Italics"/>
              </a:rPr>
              <a:t>Fall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B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036" y="390678"/>
            <a:ext cx="3038199" cy="1276043"/>
          </a:xfrm>
          <a:custGeom>
            <a:avLst/>
            <a:gdLst/>
            <a:ahLst/>
            <a:cxnLst/>
            <a:rect r="r" b="b" t="t" l="l"/>
            <a:pathLst>
              <a:path h="1276043" w="3038199">
                <a:moveTo>
                  <a:pt x="0" y="0"/>
                </a:moveTo>
                <a:lnTo>
                  <a:pt x="3038198" y="0"/>
                </a:lnTo>
                <a:lnTo>
                  <a:pt x="3038198" y="1276044"/>
                </a:lnTo>
                <a:lnTo>
                  <a:pt x="0" y="127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10241">
            <a:off x="13590554" y="-739609"/>
            <a:ext cx="9394891" cy="3086100"/>
            <a:chOff x="0" y="0"/>
            <a:chExt cx="24743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4375" cy="812800"/>
            </a:xfrm>
            <a:custGeom>
              <a:avLst/>
              <a:gdLst/>
              <a:ahLst/>
              <a:cxnLst/>
              <a:rect r="r" b="b" t="t" l="l"/>
              <a:pathLst>
                <a:path h="812800" w="2474375">
                  <a:moveTo>
                    <a:pt x="0" y="0"/>
                  </a:moveTo>
                  <a:lnTo>
                    <a:pt x="2474375" y="0"/>
                  </a:lnTo>
                  <a:lnTo>
                    <a:pt x="24743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B3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743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38036" y="2354629"/>
            <a:ext cx="17025141" cy="115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4"/>
              </a:lnSpc>
            </a:pPr>
            <a:r>
              <a:rPr lang="en-US" sz="7962" spc="-318" b="true">
                <a:solidFill>
                  <a:srgbClr val="0B318F"/>
                </a:solidFill>
                <a:latin typeface="Burlingame Pro 1 Semi-Bold"/>
                <a:ea typeface="Burlingame Pro 1 Semi-Bold"/>
                <a:cs typeface="Burlingame Pro 1 Semi-Bold"/>
                <a:sym typeface="Burlingame Pro 1 Semi-Bold"/>
              </a:rPr>
              <a:t>Delete This Slide After Reading It!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1430" y="3684325"/>
            <a:ext cx="17025141" cy="632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883" indent="-341442" lvl="1">
              <a:lnSpc>
                <a:spcPts val="4554"/>
              </a:lnSpc>
              <a:buFont typeface="Arial"/>
              <a:buChar char="•"/>
            </a:pP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Photos of your work, screenshots, or mockups are welcome!</a:t>
            </a:r>
          </a:p>
          <a:p>
            <a:pPr algn="l" marL="682883" indent="-341442" lvl="1">
              <a:lnSpc>
                <a:spcPts val="4554"/>
              </a:lnSpc>
              <a:buFont typeface="Arial"/>
              <a:buChar char="•"/>
            </a:pP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You are </a:t>
            </a:r>
            <a:r>
              <a:rPr lang="en-US" b="true" sz="3162" spc="-126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NOT </a:t>
            </a: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restricted to only using this slide design. However, you must use the same structure.</a:t>
            </a:r>
          </a:p>
          <a:p>
            <a:pPr algn="l" marL="682883" indent="-341442" lvl="1">
              <a:lnSpc>
                <a:spcPts val="4554"/>
              </a:lnSpc>
              <a:buFont typeface="Arial"/>
              <a:buChar char="•"/>
            </a:pP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You briefly describe what your project is </a:t>
            </a:r>
            <a:r>
              <a:rPr lang="en-US" b="true" sz="3162" spc="-126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DURING </a:t>
            </a: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the first slide, and </a:t>
            </a:r>
            <a:r>
              <a:rPr lang="en-US" b="true" sz="3162" spc="-126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not </a:t>
            </a: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during an additional slide </a:t>
            </a:r>
          </a:p>
          <a:p>
            <a:pPr algn="l" marL="682883" indent="-341442" lvl="1">
              <a:lnSpc>
                <a:spcPts val="4554"/>
              </a:lnSpc>
              <a:buFont typeface="Arial"/>
              <a:buChar char="•"/>
            </a:pP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Each sprint slide requires you to pick one of the prompts. </a:t>
            </a:r>
            <a:r>
              <a:rPr lang="en-US" b="true" sz="3162" spc="-126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Make it clear which prompts you pick </a:t>
            </a: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and answer as necessary! </a:t>
            </a:r>
          </a:p>
          <a:p>
            <a:pPr algn="l" marL="682883" indent="-341442" lvl="1">
              <a:lnSpc>
                <a:spcPts val="4554"/>
              </a:lnSpc>
              <a:buFont typeface="Arial"/>
              <a:buChar char="•"/>
            </a:pP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If you have a demo (it’s not required), it's likely best to be </a:t>
            </a:r>
            <a:r>
              <a:rPr lang="en-US" b="true" sz="3162" spc="-126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pre-recorded</a:t>
            </a:r>
            <a:r>
              <a:rPr lang="en-US" sz="3162" spc="-126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, and embedded directly in the slide. </a:t>
            </a:r>
            <a:r>
              <a:rPr lang="en-US" b="true" sz="3162" spc="-126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Your total presentation time is 5- 10 minutes, including Q and A, so plan accordingly.</a:t>
            </a:r>
          </a:p>
          <a:p>
            <a:pPr algn="l" marL="682883" indent="-341442" lvl="1">
              <a:lnSpc>
                <a:spcPts val="4554"/>
              </a:lnSpc>
              <a:buFont typeface="Arial"/>
              <a:buChar char="•"/>
            </a:pPr>
            <a:r>
              <a:rPr lang="en-US" b="true" sz="3162" spc="-126">
                <a:solidFill>
                  <a:srgbClr val="0B318F"/>
                </a:solidFill>
                <a:latin typeface="Burlingame Pro 1 Bold"/>
                <a:ea typeface="Burlingame Pro 1 Bold"/>
                <a:cs typeface="Burlingame Pro 1 Bold"/>
                <a:sym typeface="Burlingame Pro 1 Bold"/>
              </a:rPr>
              <a:t>If you have any questions, feel free to ask a Problem Solver or Staff!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B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036" y="390678"/>
            <a:ext cx="3038199" cy="1276043"/>
          </a:xfrm>
          <a:custGeom>
            <a:avLst/>
            <a:gdLst/>
            <a:ahLst/>
            <a:cxnLst/>
            <a:rect r="r" b="b" t="t" l="l"/>
            <a:pathLst>
              <a:path h="1276043" w="3038199">
                <a:moveTo>
                  <a:pt x="0" y="0"/>
                </a:moveTo>
                <a:lnTo>
                  <a:pt x="3038198" y="0"/>
                </a:lnTo>
                <a:lnTo>
                  <a:pt x="3038198" y="1276044"/>
                </a:lnTo>
                <a:lnTo>
                  <a:pt x="0" y="127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10241">
            <a:off x="13590554" y="-739609"/>
            <a:ext cx="9394891" cy="3086100"/>
            <a:chOff x="0" y="0"/>
            <a:chExt cx="24743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4375" cy="812800"/>
            </a:xfrm>
            <a:custGeom>
              <a:avLst/>
              <a:gdLst/>
              <a:ahLst/>
              <a:cxnLst/>
              <a:rect r="r" b="b" t="t" l="l"/>
              <a:pathLst>
                <a:path h="812800" w="2474375">
                  <a:moveTo>
                    <a:pt x="0" y="0"/>
                  </a:moveTo>
                  <a:lnTo>
                    <a:pt x="2474375" y="0"/>
                  </a:lnTo>
                  <a:lnTo>
                    <a:pt x="24743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B3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743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38036" y="2354629"/>
            <a:ext cx="16166122" cy="115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4"/>
              </a:lnSpc>
            </a:pPr>
            <a:r>
              <a:rPr lang="en-US" sz="7962" spc="-318" b="true">
                <a:solidFill>
                  <a:srgbClr val="0B318F"/>
                </a:solidFill>
                <a:latin typeface="Burlingame Pro 1 Semi-Bold"/>
                <a:ea typeface="Burlingame Pro 1 Semi-Bold"/>
                <a:cs typeface="Burlingame Pro 1 Semi-Bold"/>
                <a:sym typeface="Burlingame Pro 1 Semi-Bold"/>
              </a:rPr>
              <a:t>Sprint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4236" y="3573498"/>
            <a:ext cx="16329587" cy="607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9904" indent="-524952" lvl="1">
              <a:lnSpc>
                <a:spcPts val="6808"/>
              </a:lnSpc>
              <a:buFont typeface="Arial"/>
              <a:buChar char="•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Prompt (pick one per sprint, use a different one each sprint):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 did you accomplish?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 was a challenge you faced, or a barrier/dependency? How did you overcome it?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What's a diversion you took, or something surprising that happened during the process?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B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036" y="390678"/>
            <a:ext cx="3038199" cy="1276043"/>
          </a:xfrm>
          <a:custGeom>
            <a:avLst/>
            <a:gdLst/>
            <a:ahLst/>
            <a:cxnLst/>
            <a:rect r="r" b="b" t="t" l="l"/>
            <a:pathLst>
              <a:path h="1276043" w="3038199">
                <a:moveTo>
                  <a:pt x="0" y="0"/>
                </a:moveTo>
                <a:lnTo>
                  <a:pt x="3038198" y="0"/>
                </a:lnTo>
                <a:lnTo>
                  <a:pt x="3038198" y="1276044"/>
                </a:lnTo>
                <a:lnTo>
                  <a:pt x="0" y="127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10241">
            <a:off x="13590554" y="-739609"/>
            <a:ext cx="9394891" cy="3086100"/>
            <a:chOff x="0" y="0"/>
            <a:chExt cx="24743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4375" cy="812800"/>
            </a:xfrm>
            <a:custGeom>
              <a:avLst/>
              <a:gdLst/>
              <a:ahLst/>
              <a:cxnLst/>
              <a:rect r="r" b="b" t="t" l="l"/>
              <a:pathLst>
                <a:path h="812800" w="2474375">
                  <a:moveTo>
                    <a:pt x="0" y="0"/>
                  </a:moveTo>
                  <a:lnTo>
                    <a:pt x="2474375" y="0"/>
                  </a:lnTo>
                  <a:lnTo>
                    <a:pt x="24743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B3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743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38036" y="2354629"/>
            <a:ext cx="16166122" cy="115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4"/>
              </a:lnSpc>
            </a:pPr>
            <a:r>
              <a:rPr lang="en-US" sz="7962" spc="-318" b="true">
                <a:solidFill>
                  <a:srgbClr val="0B318F"/>
                </a:solidFill>
                <a:latin typeface="Burlingame Pro 1 Semi-Bold"/>
                <a:ea typeface="Burlingame Pro 1 Semi-Bold"/>
                <a:cs typeface="Burlingame Pro 1 Semi-Bold"/>
                <a:sym typeface="Burlingame Pro 1 Semi-Bold"/>
              </a:rPr>
              <a:t>Sprint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4236" y="3573498"/>
            <a:ext cx="16329587" cy="607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9904" indent="-524952" lvl="1">
              <a:lnSpc>
                <a:spcPts val="6808"/>
              </a:lnSpc>
              <a:buFont typeface="Arial"/>
              <a:buChar char="•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Prompt (pick one per sprint, use a different one each sprint):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 did you accomplish?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 was a challenge you faced, or a barrier/dependency? How did you overcome it?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What's a diversion you took, or something surprising that happened during the process?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B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036" y="390678"/>
            <a:ext cx="3038199" cy="1276043"/>
          </a:xfrm>
          <a:custGeom>
            <a:avLst/>
            <a:gdLst/>
            <a:ahLst/>
            <a:cxnLst/>
            <a:rect r="r" b="b" t="t" l="l"/>
            <a:pathLst>
              <a:path h="1276043" w="3038199">
                <a:moveTo>
                  <a:pt x="0" y="0"/>
                </a:moveTo>
                <a:lnTo>
                  <a:pt x="3038198" y="0"/>
                </a:lnTo>
                <a:lnTo>
                  <a:pt x="3038198" y="1276044"/>
                </a:lnTo>
                <a:lnTo>
                  <a:pt x="0" y="127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10241">
            <a:off x="13590554" y="-739609"/>
            <a:ext cx="9394891" cy="3086100"/>
            <a:chOff x="0" y="0"/>
            <a:chExt cx="24743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4375" cy="812800"/>
            </a:xfrm>
            <a:custGeom>
              <a:avLst/>
              <a:gdLst/>
              <a:ahLst/>
              <a:cxnLst/>
              <a:rect r="r" b="b" t="t" l="l"/>
              <a:pathLst>
                <a:path h="812800" w="2474375">
                  <a:moveTo>
                    <a:pt x="0" y="0"/>
                  </a:moveTo>
                  <a:lnTo>
                    <a:pt x="2474375" y="0"/>
                  </a:lnTo>
                  <a:lnTo>
                    <a:pt x="24743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B3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743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38036" y="2354629"/>
            <a:ext cx="16166122" cy="115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4"/>
              </a:lnSpc>
            </a:pPr>
            <a:r>
              <a:rPr lang="en-US" sz="7962" spc="-318" b="true">
                <a:solidFill>
                  <a:srgbClr val="0B318F"/>
                </a:solidFill>
                <a:latin typeface="Burlingame Pro 1 Semi-Bold"/>
                <a:ea typeface="Burlingame Pro 1 Semi-Bold"/>
                <a:cs typeface="Burlingame Pro 1 Semi-Bold"/>
                <a:sym typeface="Burlingame Pro 1 Semi-Bold"/>
              </a:rPr>
              <a:t>Sprint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4236" y="3573498"/>
            <a:ext cx="16329587" cy="607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9904" indent="-524952" lvl="1">
              <a:lnSpc>
                <a:spcPts val="6808"/>
              </a:lnSpc>
              <a:buFont typeface="Arial"/>
              <a:buChar char="•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Prompt (pick one per sprint, use a different one each sprint):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 did you accomplish?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 was a challenge you faced, or a barrier/dependency? How did you overcome it?</a:t>
            </a:r>
          </a:p>
          <a:p>
            <a:pPr algn="l" marL="2099808" indent="-699936" lvl="2">
              <a:lnSpc>
                <a:spcPts val="6808"/>
              </a:lnSpc>
              <a:buFont typeface="Arial"/>
              <a:buChar char="⚬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What's a diversion you took, or something surprising that happened during the process?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B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036" y="390678"/>
            <a:ext cx="3038199" cy="1276043"/>
          </a:xfrm>
          <a:custGeom>
            <a:avLst/>
            <a:gdLst/>
            <a:ahLst/>
            <a:cxnLst/>
            <a:rect r="r" b="b" t="t" l="l"/>
            <a:pathLst>
              <a:path h="1276043" w="3038199">
                <a:moveTo>
                  <a:pt x="0" y="0"/>
                </a:moveTo>
                <a:lnTo>
                  <a:pt x="3038198" y="0"/>
                </a:lnTo>
                <a:lnTo>
                  <a:pt x="3038198" y="1276044"/>
                </a:lnTo>
                <a:lnTo>
                  <a:pt x="0" y="127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10241">
            <a:off x="13590554" y="-739609"/>
            <a:ext cx="9394891" cy="3086100"/>
            <a:chOff x="0" y="0"/>
            <a:chExt cx="24743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4375" cy="812800"/>
            </a:xfrm>
            <a:custGeom>
              <a:avLst/>
              <a:gdLst/>
              <a:ahLst/>
              <a:cxnLst/>
              <a:rect r="r" b="b" t="t" l="l"/>
              <a:pathLst>
                <a:path h="812800" w="2474375">
                  <a:moveTo>
                    <a:pt x="0" y="0"/>
                  </a:moveTo>
                  <a:lnTo>
                    <a:pt x="2474375" y="0"/>
                  </a:lnTo>
                  <a:lnTo>
                    <a:pt x="24743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B3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743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38036" y="2354629"/>
            <a:ext cx="16166122" cy="115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4"/>
              </a:lnSpc>
            </a:pPr>
            <a:r>
              <a:rPr lang="en-US" sz="7962" spc="-318" b="true">
                <a:solidFill>
                  <a:srgbClr val="0B318F"/>
                </a:solidFill>
                <a:latin typeface="Burlingame Pro 1 Semi-Bold"/>
                <a:ea typeface="Burlingame Pro 1 Semi-Bold"/>
                <a:cs typeface="Burlingame Pro 1 Semi-Bold"/>
                <a:sym typeface="Burlingame Pro 1 Semi-Bold"/>
              </a:rPr>
              <a:t>What’s Next for 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36" y="3951059"/>
            <a:ext cx="17059529" cy="350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9904" indent="-524952" lvl="1">
              <a:lnSpc>
                <a:spcPts val="6808"/>
              </a:lnSpc>
              <a:buFont typeface="Arial"/>
              <a:buChar char="•"/>
            </a:pP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Where are you taking this project and/or yourself from here? Wh</a:t>
            </a:r>
            <a:r>
              <a:rPr lang="en-US" sz="4862" spc="-194">
                <a:solidFill>
                  <a:srgbClr val="0B318F"/>
                </a:solidFill>
                <a:latin typeface="Burlingame Pro 1 Light"/>
                <a:ea typeface="Burlingame Pro 1 Light"/>
                <a:cs typeface="Burlingame Pro 1 Light"/>
                <a:sym typeface="Burlingame Pro 1 Light"/>
              </a:rPr>
              <a:t>at did this experience teach you? or you?</a:t>
            </a:r>
          </a:p>
          <a:p>
            <a:pPr algn="l" marL="1049904" indent="-524952" lvl="1">
              <a:lnSpc>
                <a:spcPts val="6808"/>
              </a:lnSpc>
              <a:buFont typeface="Arial"/>
              <a:buChar char="•"/>
            </a:pPr>
            <a:r>
              <a:rPr lang="en-US" sz="4862" i="true" spc="-194">
                <a:solidFill>
                  <a:srgbClr val="0B318F"/>
                </a:solidFill>
                <a:latin typeface="Burlingame Pro 1 Light Italics"/>
                <a:ea typeface="Burlingame Pro 1 Light Italics"/>
                <a:cs typeface="Burlingame Pro 1 Light Italics"/>
                <a:sym typeface="Burlingame Pro 1 Light Italics"/>
              </a:rPr>
              <a:t>This is forward-looking, so think about next steps, goals, or things you didn't have the chance to accomplish with it yet!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DAHYvbTOYAs</dc:identifier>
  <dcterms:modified xsi:type="dcterms:W3CDTF">2011-08-01T06:04:30Z</dcterms:modified>
  <cp:revision>1</cp:revision>
  <dc:title>NOT FOR STUDENTS ShiftKey Academy UP Build It! Machine Learning Template + Guidelines</dc:title>
</cp:coreProperties>
</file>